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822960"/>
            <a:ext cx="11064240" cy="50292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822960"/>
            <a:ext cx="73152" cy="5029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10972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なぜ最先端のB2B企業は少人数で商談を増やし続けられるのか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7432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00E5FF"/>
                </a:solidFill>
                <a:latin typeface="Calibri"/>
              </a:rPr>
              <a:t>~セミナー集客・広告分析・アウトリーチをAIで同時に回す実践事例~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520440"/>
            <a:ext cx="5760720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7033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BBCC"/>
                </a:solidFill>
                <a:latin typeface="Calibri"/>
              </a:rPr>
              <a:t>澤居 宏紀（ルートチームCEO） x 大沢 拓斗（GTM Port / Unima CEO）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2519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6B00"/>
                </a:solidFill>
                <a:latin typeface="Calibri"/>
              </a:rPr>
              <a:t>司会：羽生みな美  |  2026年7月3日（金）12:00~12:30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SPEAKERS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登壇者紹介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486400" cy="429768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" cy="42976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1828800" cy="2286000"/>
          </a:xfrm>
          <a:prstGeom prst="rect">
            <a:avLst/>
          </a:prstGeom>
          <a:solidFill>
            <a:srgbClr val="15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  <a:latin typeface="Calibri"/>
              </a:rPr>
              <a:t>[ 写真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11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澤居 宏紀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FF"/>
                </a:solidFill>
                <a:latin typeface="Calibri"/>
              </a:rPr>
              <a:t>株式会社ルートチーム 代表取締役CEO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OneStream（累計1,300社以上）、サイバー社員を展開。AIで商談を仕組み化する実践を第一線で推進。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920240"/>
            <a:ext cx="5486400" cy="429768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920240"/>
            <a:ext cx="64008" cy="42976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2011680"/>
            <a:ext cx="1828800" cy="2286000"/>
          </a:xfrm>
          <a:prstGeom prst="rect">
            <a:avLst/>
          </a:prstGeom>
          <a:solidFill>
            <a:srgbClr val="15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834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CC"/>
                </a:solidFill>
                <a:latin typeface="Calibri"/>
              </a:rPr>
              <a:t>[ 写真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011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大沢 拓斗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6B00"/>
                </a:solidFill>
                <a:latin typeface="Calibri"/>
              </a:rPr>
              <a:t>GTM Port リードGTMエンジニア / Unima CEO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4348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米国発GTMエンジニアリングを日本に持ち込んだ第一人者。LinkedIn×Clayによるアウトリーチ自動化をいち早く実践。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2D9A"/>
                </a:solidFill>
                <a:latin typeface="Calibri"/>
              </a:rPr>
              <a:t>TODAY'S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本日のテーゼ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64008" cy="182880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少人数でも商談が増え続けている会社は、AI x GTMエンジニアリングで
"量をこなす仕事"を人間から切り離している。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10698480" cy="1828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64008" cy="1828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BBCC"/>
                </a:solidFill>
                <a:latin typeface="Calibri"/>
              </a:rPr>
              <a:t>セミナー集客・広告分析・アウトリーチを同時に回せている会社と回せていない会社の差は、
才能でも予算でもなく「仕組みの有無」だ。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00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アジェンダ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0698480" cy="685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00"/>
                </a:solidFill>
                <a:latin typeface="Calibr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385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イントロダクション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24328"/>
            <a:ext cx="10698480" cy="685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24328"/>
            <a:ext cx="64008" cy="685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734056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  <a:latin typeface="Calibri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3405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なぜ少人数B2Bマーケは実行が追いつかないのか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19856"/>
            <a:ext cx="10698480" cy="685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19856"/>
            <a:ext cx="64008" cy="685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29584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  <a:latin typeface="Calibri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2958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実践事例① セミナー集客のAI自動化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15384"/>
            <a:ext cx="10698480" cy="685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15384"/>
            <a:ext cx="64008" cy="685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2511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  <a:latin typeface="Calibri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251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実践事例② 広告分析・LP改善のAI化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10912"/>
            <a:ext cx="10698480" cy="685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010912"/>
            <a:ext cx="64008" cy="685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206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  <a:latin typeface="Calibri"/>
              </a:rPr>
              <a:t>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120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人とAIの役割分担と体制設計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10698480" cy="685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806440"/>
            <a:ext cx="64008" cy="68580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9161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2D9A"/>
                </a:solidFill>
                <a:latin typeface="Calibri"/>
              </a:rPr>
              <a:t>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91616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Q&amp;A・サイバー社員導入相談案内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②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なぜ少人数B2Bマーケは実行が追いつかないのか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48640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" cy="347472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2D9A"/>
                </a:solidFill>
                <a:latin typeface="Calibri"/>
              </a:rPr>
              <a:t>手動の場合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x  週100件が限界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x  広告分析に週1~2時間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x  常にリソース不足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920240"/>
            <a:ext cx="548640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920240"/>
            <a:ext cx="64008" cy="3474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5FF"/>
                </a:solidFill>
                <a:latin typeface="Calibri"/>
              </a:rPr>
              <a:t>AI自動化後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06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v  週500~1,000件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3832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v  毎朝自動レポート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160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v  チームは判断に集中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577840"/>
            <a:ext cx="10698480" cy="8229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577840"/>
            <a:ext cx="64008" cy="8229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00"/>
                </a:solidFill>
                <a:latin typeface="Calibri"/>
              </a:rPr>
              <a:t>「リソースが足りないからこそ、AIで仕組み化しないといけない」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③ CASE STUDY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実践事例①：アウトリーチ自動化（LinkedIn x Clay x メール）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47472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" cy="3474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LinkedIn Sales Navigator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ICP条件でターゲットリスト
自動生成（数百~数千件）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0175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BBCC"/>
                </a:solidFill>
                <a:latin typeface="Calibri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47472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920240"/>
            <a:ext cx="64008" cy="3474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00"/>
                </a:solidFill>
                <a:latin typeface="Calibr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Clay データエンリッチ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37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企業情報・ニュース・役職を
自動付与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0175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BBCC"/>
                </a:solidFill>
                <a:latin typeface="Calibri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474720" cy="3474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920240"/>
            <a:ext cx="64008" cy="347472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011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2D9A"/>
                </a:solidFill>
                <a:latin typeface="Calibr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688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パーソナライズメール自動送信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37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AI生成・個別感のある
文面で自動送信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77840"/>
            <a:ext cx="10698480" cy="8229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577840"/>
            <a:ext cx="64008" cy="8229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人が介在するのは「ターゲット基準の策定」と「文面トーンの確認」の2点のみ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OneStream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視聴ログを「営業のトリガー」に変換する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03520" cy="43891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4008" cy="4389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Calibri"/>
              </a:rPr>
              <a:t>顧客アクションフロー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23160"/>
            <a:ext cx="4572000" cy="54864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start  セミナー申込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108960"/>
            <a:ext cx="4572000" cy="54864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-&gt;  動画アーカイブ配信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94760"/>
            <a:ext cx="4572000" cy="54864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679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-&gt;  視聴ログ取得（何分・何回）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80560"/>
            <a:ext cx="4572000" cy="54864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537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-&gt;  HubSpot連携・スコアリング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166360"/>
            <a:ext cx="4572000" cy="54864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395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-&gt;  温まったリードだけ営業にパス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1828800"/>
            <a:ext cx="64008" cy="4389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9202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00"/>
                </a:solidFill>
                <a:latin typeface="Calibri"/>
              </a:rPr>
              <a:t>自動判断ルール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468880"/>
            <a:ext cx="4572000" cy="50292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54203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最後まで視聴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1546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 フォローメール自動送信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4206240"/>
            <a:ext cx="4572000" cy="50292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279392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2D9A"/>
                </a:solidFill>
                <a:latin typeface="Calibri"/>
              </a:rPr>
              <a:t>3回以上視聴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892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   商談候補リストに自動追加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④ CASE STUDY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実践事例②：広告分析・LP改善をAIで回す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474720" cy="16916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" cy="16916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AIが毎朝自動集計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474720" cy="16916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64008" cy="1691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Slackにレポート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474720" cy="16916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920240"/>
            <a:ext cx="64008" cy="169164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訴求パターン分析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3474720" cy="16916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64008" cy="16916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4. LP改善案自動生成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840480"/>
            <a:ext cx="3474720" cy="16916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840480"/>
            <a:ext cx="64008" cy="1691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297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5. A/Bテスト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840480"/>
            <a:ext cx="3474720" cy="169164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840480"/>
            <a:ext cx="64008" cy="169164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297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6. 勝ちパターン横展開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52160"/>
            <a:ext cx="10698480" cy="7315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52160"/>
            <a:ext cx="64008" cy="7315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989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BBCC"/>
                </a:solidFill>
                <a:latin typeface="Calibri"/>
              </a:rPr>
              <a:t>BEFORE: 週1~2時間の手動レポート作成  =&gt;  AFTER: 朝起きたら自動レポートが完成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PDCA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PDCAサイクルの速度が競合との差になる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486400" cy="32004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" cy="320040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2D9A"/>
                </a:solidFill>
                <a:latin typeface="Calibri"/>
              </a:rPr>
              <a:t>月次PDCA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3ヶ月で1サイクル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920240"/>
            <a:ext cx="5486400" cy="32004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920240"/>
            <a:ext cx="64008" cy="3200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  <a:latin typeface="Calibri"/>
              </a:rPr>
              <a:t>週次PDCA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517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3ヶ月で12サイクル
= 4倍の差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9260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ABBCC"/>
                </a:solidFill>
                <a:latin typeface="Calibri"/>
              </a:rPr>
              <a:t>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03520"/>
            <a:ext cx="10698480" cy="1188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03520"/>
            <a:ext cx="64008" cy="11887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00"/>
                </a:solidFill>
                <a:latin typeface="Calibri"/>
              </a:rPr>
              <a:t>「完璧にしてから動かす」ではなく「動かしながら完璧にしていく」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ROLE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人とAIの役割分担は「人の判断」から逆算する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" cy="4389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E5FF"/>
                </a:solidFill>
                <a:latin typeface="Calibri"/>
              </a:rPr>
              <a:t>人がやる（判断）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  コンテンツ方向性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  顧客対話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  ターゲット基準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  文面トーン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  次の一手の判断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920240"/>
            <a:ext cx="5486400" cy="438912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1920240"/>
            <a:ext cx="64008" cy="4389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011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00"/>
                </a:solidFill>
                <a:latin typeface="Calibri"/>
              </a:rPr>
              <a:t>AIがやる（量をこなす）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517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  リスト生成・メール送信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3375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  データ集計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0233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  LP改善案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7091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  視聴ログ分析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3949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  A/Bテスト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8404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BBCC"/>
                </a:solidFill>
                <a:latin typeface="Calibri"/>
              </a:rPr>
              <a:t>--- 判断の境界線 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HOW TO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少人数でも回る、マーケ体制の作り方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3474720" cy="4114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" cy="4114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Calibr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構造を把握する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AIに任せる仕事と人が判断する仕事をリスト化する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74903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BBCC"/>
                </a:solidFill>
                <a:latin typeface="Calibri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474720" cy="4114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920240"/>
            <a:ext cx="64008" cy="4114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011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B00"/>
                </a:solidFill>
                <a:latin typeface="Calibr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14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1つだけ試す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46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アウトリーチ自動化・視聴ログ活用・
広告分析週次化のどれか1つ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ABBCC"/>
                </a:solidFill>
                <a:latin typeface="Calibri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474720" cy="41148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920240"/>
            <a:ext cx="64008" cy="411480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011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2D9A"/>
                </a:solidFill>
                <a:latin typeface="Calibr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146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週次PDCAで回す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246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毎週月曜15分、先週のデータを確認して
次の一手を決める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640080"/>
          </a:xfrm>
          <a:prstGeom prst="rect">
            <a:avLst/>
          </a:prstGeom>
          <a:solidFill>
            <a:srgbClr val="050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Calibri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本日のまとめ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3657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698480" cy="12801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4008" cy="12801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E5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202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"量をこなす仕事"はAIに任せる。まず1つを今週動かす。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5146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汎用AIではなく、自分たちの業務フローに組み込む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10698480" cy="12801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91840"/>
            <a:ext cx="64008" cy="1280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6B0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383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データドリブンのPDCAを週次で回す。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7764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改善サイクルの速度が競合との差になる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10698480" cy="128016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64008" cy="128016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2D9A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8463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まず1つ動かす。動かしながら育てていく。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4406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BCC"/>
                </a:solidFill>
                <a:latin typeface="Calibri"/>
              </a:rPr>
              <a:t>完成してから動かすのではなく、小さく始めて横展開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8503920" cy="32004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371600"/>
            <a:ext cx="73152" cy="3200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E5FF"/>
                </a:solidFill>
                <a:latin typeface="Calibri"/>
              </a:rP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ご質問はQ&amp;A機能からお気軽にどうぞ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029200"/>
            <a:ext cx="2743200" cy="685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074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サイバー社員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029200"/>
            <a:ext cx="2743200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074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OneStream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5029200"/>
            <a:ext cx="2743200" cy="685800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5074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GTM 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6350"/>
          </a:xfrm>
          <a:prstGeom prst="rect">
            <a:avLst/>
          </a:prstGeom>
          <a:solidFill>
            <a:srgbClr val="1A2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2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1097280"/>
            <a:ext cx="5212080" cy="45720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1097280"/>
            <a:ext cx="64008" cy="4572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12344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E5FF"/>
                </a:solidFill>
                <a:latin typeface="Calibri"/>
              </a:rPr>
              <a:t>サイバー社員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19202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無料導入診断受付中
アンケート回答者に1ヶ月無料トライアルをご案内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023360"/>
            <a:ext cx="4114800" cy="6400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069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無料診断を申し込む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097280"/>
            <a:ext cx="5212080" cy="4572000"/>
          </a:xfrm>
          <a:prstGeom prst="rect">
            <a:avLst/>
          </a:prstGeom>
          <a:solidFill>
            <a:srgbClr val="0F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1097280"/>
            <a:ext cx="64008" cy="4572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12344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6B00"/>
                </a:solidFill>
                <a:latin typeface="Calibri"/>
              </a:rPr>
              <a:t>GTM 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19202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個別相談受付中
LinkedIn x Clayアウトリーチの導入をサポートします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023360"/>
            <a:ext cx="4114800" cy="6400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0690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個別相談を申し込む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BBCC"/>
                </a:solidFill>
                <a:latin typeface="Calibri"/>
              </a:rPr>
              <a:t>アンケートのご回答をお願いします。本日はご参加いただき、誠にありがとうございました。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