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914400"/>
            <a:ext cx="11064240" cy="475488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914400"/>
            <a:ext cx="73152" cy="47548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12801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あなたの専門職がAIで10倍になる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651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E5FF"/>
                </a:solidFill>
                <a:latin typeface="Calibri"/>
              </a:rPr>
              <a:t>〜AI税理士・AIマーケターに学ぶ、業界特化エージェントビジネスの始め方〜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3474720"/>
            <a:ext cx="5760720" cy="36576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BBCC"/>
                </a:solidFill>
                <a:latin typeface="Calibri"/>
              </a:rPr>
              <a:t>澤居 宏紀（株式会社ルートチーム 代表取締役CEO）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6B00"/>
                </a:solidFill>
                <a:latin typeface="Calibri"/>
              </a:rPr>
              <a:t>2026年7月10日（金）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82296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  <a:latin typeface="Calibri"/>
              </a:rPr>
              <a:t>SPEAKER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登壇者紹介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657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926080" cy="3657600"/>
          </a:xfrm>
          <a:prstGeom prst="rect">
            <a:avLst/>
          </a:prstGeom>
          <a:solidFill>
            <a:srgbClr val="151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292608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澤居 宏紀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  <a:latin typeface="Calibri"/>
              </a:rPr>
              <a:t>[ 写真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828800"/>
            <a:ext cx="7772400" cy="36576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1828800"/>
            <a:ext cx="54864" cy="3657600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920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E5FF"/>
                </a:solidFill>
                <a:latin typeface="Calibri"/>
              </a:rPr>
              <a:t>株式会社ルートチーム 代表取締役CEO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468880"/>
            <a:ext cx="7315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Iワーカー/サイバー社員の設計・導入支援を行い、営業・マーケ・開発・バックオフィスまで幅広い業務へのAI実装を推進。現場業務にAIをどう定着させるか、どこから始めると成果が出るかを実運用ベースで支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2D9A"/>
                </a:solidFill>
                <a:latin typeface="Calibri"/>
              </a:rPr>
              <a:t>TODAY'S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本日のテーゼ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657600" cy="36576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10698480" cy="34747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73152" cy="3474720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94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E5FF"/>
                </a:solidFill>
                <a:latin typeface="Calibri"/>
              </a:rPr>
              <a:t>汎用AIが溢れる今、業界知識こそが最大の参入障壁。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「AI○○」として専門特化することで、
1人でも10倍の価値を生み出せる時代が来ている。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212080"/>
            <a:ext cx="10725912" cy="36576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00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アジェンダ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6576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698480" cy="82296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73152" cy="8229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E5FF"/>
                </a:solidFill>
                <a:latin typeface="Calibri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6596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なぜ今「AI○○」が強いのか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10698480" cy="82296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834640"/>
            <a:ext cx="73152" cy="8229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9718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E5FF"/>
                </a:solidFill>
                <a:latin typeface="Calibri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718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業界特化エージェントの実践3ステップ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40480"/>
            <a:ext cx="10698480" cy="82296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73152" cy="8229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776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E5FF"/>
                </a:solidFill>
                <a:latin typeface="Calibri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776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実例：AIマーケター・アウトリーチ自動化・セミナー運営自動化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10698480" cy="82296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846320"/>
            <a:ext cx="73152" cy="822960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9834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2D9A"/>
                </a:solidFill>
                <a:latin typeface="Calibri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9834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CTA：パートナー個別相談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  <a:latin typeface="Calibri"/>
              </a:rPr>
              <a:t>① 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なぜ今「AI○○」が強いのか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45720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212080" cy="39319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73152" cy="39319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00"/>
                </a:solidFill>
                <a:latin typeface="Calibri"/>
              </a:rPr>
              <a:t>汎用AIの限界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一般的なAIアシスタントには業界文脈がない。ChatGPTに聞いても「それっぽい答え」しか返ってこない。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5212080" cy="39319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73152" cy="39319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E5FF"/>
                </a:solidFill>
                <a:latin typeface="Calibri"/>
              </a:rPr>
              <a:t>専門家 × AI = 市場独占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4688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専門家がAIに自分の知識を掛け算することで、同業他社が参入できない独自ポジションを確立できる。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2004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2D9A"/>
                </a:solidFill>
                <a:latin typeface="Calibri"/>
              </a:rPr>
              <a:t>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2D9A"/>
                </a:solidFill>
                <a:latin typeface="Calibri"/>
              </a:rPr>
              <a:t>FAILURE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失敗パターン 3つ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657600" cy="36576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698480" cy="11887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73152" cy="1188720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2D9A"/>
                </a:solidFill>
                <a:latin typeface="Calibri"/>
              </a:rPr>
              <a:t>失敗①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745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準備に時間をかけすぎる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3774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ABBCC"/>
                </a:solidFill>
                <a:latin typeface="Calibri"/>
              </a:rPr>
              <a:t>完璧なエージェントを作ろうとして、ずっと準備段階で止まってしまう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0698480" cy="11887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73152" cy="1188720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91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2D9A"/>
                </a:solidFill>
                <a:latin typeface="Calibri"/>
              </a:rPr>
              <a:t>失敗②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2461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全社一斉展開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490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ABBCC"/>
                </a:solidFill>
                <a:latin typeface="Calibri"/>
              </a:rPr>
              <a:t>小さく始めずにいきなりスケールしようとして失速する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72000"/>
            <a:ext cx="10698480" cy="11887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572000"/>
            <a:ext cx="73152" cy="1188720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634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2D9A"/>
                </a:solidFill>
                <a:latin typeface="Calibri"/>
              </a:rPr>
              <a:t>失敗③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617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ツール選びから入る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1206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ABBCC"/>
                </a:solidFill>
                <a:latin typeface="Calibri"/>
              </a:rPr>
              <a:t>何をやるか決める前にツールを探し始めてしまう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  <a:latin typeface="Calibri"/>
              </a:rPr>
              <a:t>② 3 STEPS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実践3ステップ 全体像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45720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566160" cy="34747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3566160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E5FF"/>
                </a:solidFill>
                <a:latin typeface="Calibri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業界知識をAIの文脈に変換する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20040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BBCC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011680"/>
            <a:ext cx="3566160" cy="34747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2011680"/>
            <a:ext cx="3566160" cy="7315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1945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6B00"/>
                </a:solidFill>
                <a:latin typeface="Calibri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7432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エージェントを構築する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20040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BBCC"/>
                </a:solidFill>
                <a:latin typeface="Calibri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011680"/>
            <a:ext cx="3566160" cy="34747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2011680"/>
            <a:ext cx="3566160" cy="73152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1945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2D9A"/>
                </a:solidFill>
                <a:latin typeface="Calibri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7432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最初の1社で実績を作り横展開する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  <a:latin typeface="Calibri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業界知識をAIの文脈に変換する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45720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698480" cy="9144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E5FF"/>
                </a:solidFill>
                <a:latin typeface="Calibri"/>
              </a:rPr>
              <a:t>「自分が10年やってきたことをAIに教える」というイメージ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10698480" cy="667512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926080"/>
            <a:ext cx="54864" cy="66751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175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  業界用語・専門知識  →  ドキュメント化してプロンプトに変換する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03320"/>
            <a:ext cx="10698480" cy="667512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03320"/>
            <a:ext cx="54864" cy="66751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  よくある失敗パターン  →  ドキュメント化してプロンプトに変換する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80560"/>
            <a:ext cx="10698480" cy="667512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480560"/>
            <a:ext cx="54864" cy="66751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5720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  判断基準・意思決定の軸  →  ドキュメント化してプロンプトに変換する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257800"/>
            <a:ext cx="10698480" cy="667512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257800"/>
            <a:ext cx="54864" cy="66751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3492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  クライアントの悩みパターン  →  ドキュメント化してプロンプトに変換する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00"/>
                </a:solidFill>
                <a:latin typeface="Calibri"/>
              </a:rPr>
              <a:t>STEP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エージェントを構築する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6576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029200" cy="39319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4864" cy="39319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00"/>
                </a:solidFill>
                <a:latin typeface="Calibri"/>
              </a:rPr>
              <a:t>ツール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Grantryなどのノーコードツールを活用。技術知識不要で業界特化エージェントを構築できる。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5212080" cy="39319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54864" cy="39319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E5FF"/>
                </a:solidFill>
                <a:latin typeface="Calibri"/>
              </a:rPr>
              <a:t>構築のコツ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4688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✓  1つのタスクに絞る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154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✓  入力と出力を明確にする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8404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✓  自分で使ってみる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2D9A"/>
                </a:solidFill>
                <a:latin typeface="Calibri"/>
              </a:rPr>
              <a:t>STEP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最初の1社で実績を作る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657600" cy="36576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566160" cy="34747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3566160" cy="64008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2D9A"/>
                </a:solidFill>
                <a:latin typeface="Calibri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最初の1社に入る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  <a:latin typeface="Calibri"/>
              </a:rPr>
              <a:t>無料か低価格でOK。まず実績を作ることが最優先。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011680"/>
            <a:ext cx="3566160" cy="34747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2011680"/>
            <a:ext cx="3566160" cy="6400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1945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00"/>
                </a:solidFill>
                <a:latin typeface="Calibri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517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実績を記録する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4747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  <a:latin typeface="Calibri"/>
              </a:rPr>
              <a:t>ビフォーアフターを数値で記録して事例化する。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011680"/>
            <a:ext cx="3566160" cy="34747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2011680"/>
            <a:ext cx="3566160" cy="640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1945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5FF"/>
                </a:solidFill>
                <a:latin typeface="Calibri"/>
              </a:rP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517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横展開する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4747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  <a:latin typeface="Calibri"/>
              </a:rPr>
              <a:t>その事例をもとに同業他社・同業種に横展開する。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  <a:latin typeface="Calibri"/>
              </a:rPr>
              <a:t>③ CASE STUDY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実例① AIマーケター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657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698480" cy="9144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E5FF"/>
                </a:solidFill>
                <a:latin typeface="Calibri"/>
              </a:rPr>
              <a:t>ルートチームでの実例：担当1名が10名分の施策を回せるようになった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10698480" cy="77724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926080"/>
            <a:ext cx="54864" cy="7772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00"/>
                </a:solidFill>
                <a:latin typeface="Calibri"/>
              </a:rPr>
              <a:t>アウトリーチ自動化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01752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ターゲットリスト作成〜メール送信〜フォロー管理をAIエージェントが自動実行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40480"/>
            <a:ext cx="10698480" cy="77724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54864" cy="7772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86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00"/>
                </a:solidFill>
                <a:latin typeface="Calibri"/>
              </a:rPr>
              <a:t>LP改善サイクル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93192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アクセスデータ分析→改善案生成→A/Bテスト設計まで自動化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54880"/>
            <a:ext cx="10698480" cy="77724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754880"/>
            <a:ext cx="54864" cy="7772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00"/>
                </a:solidFill>
                <a:latin typeface="Calibri"/>
              </a:rPr>
              <a:t>セミナー運営自動化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84632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企画書・台本・スライド・集客・二次利用まで一気通貫でAI対応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00"/>
                </a:solidFill>
                <a:latin typeface="Calibri"/>
              </a:rPr>
              <a:t>③ CASE STUDY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実例② AI税理士・AI営業マン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45720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698480" cy="77724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00"/>
                </a:solidFill>
                <a:latin typeface="Calibri"/>
              </a:rPr>
              <a:t>専門知識が必要な領域こそ、AIエージェントが最も効果を発揮する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34640"/>
            <a:ext cx="10698480" cy="86868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834640"/>
            <a:ext cx="54864" cy="8686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E5FF"/>
                </a:solidFill>
                <a:latin typeface="Calibri"/>
              </a:rPr>
              <a:t>AI税理士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00"/>
                </a:solidFill>
                <a:latin typeface="Calibri"/>
              </a:rPr>
              <a:t>税務相談の一次対応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92608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法人税・消費税の基本Q&amp;Aをエージェントが対応。税理士は判断が必要な案件に集中。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10698480" cy="86868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840480"/>
            <a:ext cx="54864" cy="8686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E5FF"/>
                </a:solidFill>
                <a:latin typeface="Calibri"/>
              </a:rPr>
              <a:t>AI法務担当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886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00"/>
                </a:solidFill>
                <a:latin typeface="Calibri"/>
              </a:rPr>
              <a:t>契約書チェック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93192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リスク箇所の洗い出し・修正案提示を自動化。弁護士費用を大幅削減。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10698480" cy="86868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846320"/>
            <a:ext cx="54864" cy="8686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937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E5FF"/>
                </a:solidFill>
                <a:latin typeface="Calibri"/>
              </a:rPr>
              <a:t>AI営業マン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00"/>
                </a:solidFill>
                <a:latin typeface="Calibri"/>
              </a:rPr>
              <a:t>商談準備の自動化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93776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企業調査・提案書作成・トークスクリプト生成を担当者着席前に完了。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  <a:latin typeface="Calibri"/>
              </a:rPr>
              <a:t>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本日のまとめ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657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698480" cy="123444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73152" cy="12344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E5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920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業界知識×AIが最強の参入障壁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423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ABBCC"/>
                </a:solidFill>
                <a:latin typeface="Calibri"/>
              </a:rPr>
              <a:t>汎用AIが溢れる今、専門特化こそが差別化の核心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46120"/>
            <a:ext cx="10698480" cy="123444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46120"/>
            <a:ext cx="73152" cy="1234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832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6B00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337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実践3ステップで今すぐ動ける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840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ABBCC"/>
                </a:solidFill>
                <a:latin typeface="Calibri"/>
              </a:rPr>
              <a:t>知識の文脈化→構築→1社実績の順番で進める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63440"/>
            <a:ext cx="10698480" cy="123444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663440"/>
            <a:ext cx="73152" cy="1234440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00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2D9A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まず1つのタスクに絞って今週始める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2578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ABBCC"/>
                </a:solidFill>
                <a:latin typeface="Calibri"/>
              </a:rPr>
              <a:t>完璧を目指さず、小さく始めて実績を積む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914400"/>
            <a:ext cx="73152" cy="5029200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2D9A"/>
                </a:solidFill>
                <a:latin typeface="Calibri"/>
              </a:rPr>
              <a:t>NEXT STEP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146304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ルートチームとパートナーとして
働きませんか？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3017520"/>
            <a:ext cx="7315200" cy="36576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2004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BBCC"/>
                </a:solidFill>
                <a:latin typeface="Calibri"/>
              </a:rPr>
              <a:t>AIエージェントビジネスに興味がある方に、個別相談の機会をご用意しています。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4023360"/>
            <a:ext cx="4114800" cy="822960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40690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個別相談を申し込む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029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ABBCC"/>
                </a:solidFill>
                <a:latin typeface="Calibri"/>
              </a:rPr>
              <a:t>本日はご参加いただき、誠にありがとうございました。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