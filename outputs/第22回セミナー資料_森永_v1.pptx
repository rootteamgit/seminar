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9144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7432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6576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822960"/>
            <a:ext cx="11064240" cy="502920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822960"/>
            <a:ext cx="73152" cy="50292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118872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研修動画が見られない理由と、視聴ログで改善する方法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74320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E5FF"/>
                </a:solidFill>
                <a:latin typeface="Calibri"/>
              </a:rPr>
              <a:t>受講率・完了率・離脱ポイントを見える化し、フォロー設計まで一気通貫で解説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3520440"/>
            <a:ext cx="5760720" cy="36576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37033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BBCC"/>
                </a:solidFill>
                <a:latin typeface="Calibri"/>
              </a:rPr>
              <a:t>森永 悠介（株式会社ルートチーム 執行役員 COO）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2519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6B00"/>
                </a:solidFill>
                <a:latin typeface="Calibri"/>
              </a:rPr>
              <a:t>2026年7月8日（水）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640080"/>
          </a:xfrm>
          <a:prstGeom prst="rect">
            <a:avLst/>
          </a:prstGeom>
          <a:solidFill>
            <a:srgbClr val="050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FF"/>
                </a:solidFill>
                <a:latin typeface="Calibri"/>
              </a:rPr>
              <a:t>SPEAKER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登壇者紹介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36576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920240"/>
            <a:ext cx="10332720" cy="429768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920240"/>
            <a:ext cx="64008" cy="42976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2011680"/>
            <a:ext cx="2011680" cy="2743200"/>
          </a:xfrm>
          <a:prstGeom prst="rect">
            <a:avLst/>
          </a:prstGeom>
          <a:solidFill>
            <a:srgbClr val="151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0175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BBCC"/>
                </a:solidFill>
                <a:latin typeface="Calibri"/>
              </a:rPr>
              <a:t>[ 写真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01168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森永 悠介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697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E5FF"/>
                </a:solidFill>
                <a:latin typeface="Calibri"/>
              </a:rPr>
              <a:t>株式会社ルートチーム 執行役員 COO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29184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ABBCC"/>
                </a:solidFill>
                <a:latin typeface="Calibri"/>
              </a:rPr>
              <a:t>マーケティング・営業・カスタマーサクセス全領域を統括。OneStreamの事業成長を牽引し契約社数を1300社まで拡大。BtoB SaaS領域でのリード獲得から顧客育成、継続率向上までの一気通貫の戦略設計に精通。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640080"/>
          </a:xfrm>
          <a:prstGeom prst="rect">
            <a:avLst/>
          </a:prstGeom>
          <a:solidFill>
            <a:srgbClr val="050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2D9A"/>
                </a:solidFill>
                <a:latin typeface="Calibri"/>
              </a:rPr>
              <a:t>TODAY'S 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本日のテーゼ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3657600" cy="36576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10698480" cy="347472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920240"/>
            <a:ext cx="64008" cy="3474720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194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動画研修は配信して終わりでは成果につながらない。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0896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ABBCC"/>
                </a:solidFill>
                <a:latin typeface="Calibri"/>
              </a:rPr>
              <a:t>受講率・完了率・離脱ポイントを見ながら適切なフォローを行うことが
研修効果向上の鍵。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640080"/>
          </a:xfrm>
          <a:prstGeom prst="rect">
            <a:avLst/>
          </a:prstGeom>
          <a:solidFill>
            <a:srgbClr val="050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00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アジェンダ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3657600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10698480" cy="77724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64008" cy="777240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574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2D9A"/>
                </a:solidFill>
                <a:latin typeface="Calibri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057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研修動画が見られない3つの理由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834640"/>
            <a:ext cx="10698480" cy="77724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834640"/>
            <a:ext cx="64008" cy="7772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9718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E5FF"/>
                </a:solidFill>
                <a:latin typeface="Calibri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971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視聴ログで見るべき指標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49040"/>
            <a:ext cx="10698480" cy="77724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749040"/>
            <a:ext cx="64008" cy="7772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886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E5FF"/>
                </a:solidFill>
                <a:latin typeface="Calibri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886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未視聴者・途中離脱者へのフォロー設計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663440"/>
            <a:ext cx="10698480" cy="77724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663440"/>
            <a:ext cx="64008" cy="7772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8006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E5FF"/>
                </a:solidFill>
                <a:latin typeface="Calibri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800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OneStreamで実現できる動画研修PDCA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77840"/>
            <a:ext cx="10698480" cy="77724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577840"/>
            <a:ext cx="64008" cy="7772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715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00"/>
                </a:solidFill>
                <a:latin typeface="Calibri"/>
              </a:rPr>
              <a:t>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7150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まとめ・個別相談案内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640080"/>
          </a:xfrm>
          <a:prstGeom prst="rect">
            <a:avLst/>
          </a:prstGeom>
          <a:solidFill>
            <a:srgbClr val="050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2D9A"/>
                </a:solidFill>
                <a:latin typeface="Calibri"/>
              </a:rPr>
              <a:t>① 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研修動画が見られない3つの理由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3657600" cy="36576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10698480" cy="128016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64008" cy="1280160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2D9A"/>
                </a:solidFill>
                <a:latin typeface="Calibri"/>
              </a:rPr>
              <a:t>理由①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内的動機の欠如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01168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  <a:latin typeface="Calibri"/>
              </a:rPr>
              <a:t>「見てみたい」という気持ちが生まれていない。コンテンツの魅力・意義の伝え方に課題。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83280"/>
            <a:ext cx="10698480" cy="128016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383280"/>
            <a:ext cx="64008" cy="12801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747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B00"/>
                </a:solidFill>
                <a:latin typeface="Calibri"/>
              </a:rPr>
              <a:t>理由②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外的動機の欠如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4747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  <a:latin typeface="Calibri"/>
              </a:rPr>
              <a:t>「見なければならない」という圧力が弱い。期限・ルール・リマインドの仕組みがない。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46320"/>
            <a:ext cx="10698480" cy="128016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846320"/>
            <a:ext cx="64008" cy="12801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93776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E5FF"/>
                </a:solidFill>
                <a:latin typeface="Calibri"/>
              </a:rPr>
              <a:t>理由③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937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視聴状況が見えない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9377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  <a:latin typeface="Calibri"/>
              </a:rPr>
              <a:t>改善のしようがない。誰が見た/見ていないかが分からないため手が打てない。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640080"/>
          </a:xfrm>
          <a:prstGeom prst="rect">
            <a:avLst/>
          </a:prstGeom>
          <a:solidFill>
            <a:srgbClr val="050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FF"/>
                </a:solidFill>
                <a:latin typeface="Calibri"/>
              </a:rPr>
              <a:t>② METRIC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視聴ログで見るべき指標① 受講率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36576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10698480" cy="411480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64008" cy="4114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E5FF"/>
                </a:solidFill>
                <a:latin typeface="Calibri"/>
              </a:rPr>
              <a:t>受講率とは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受講対象者のうち、実際に視聴を開始した割合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429000"/>
            <a:ext cx="978408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6B00"/>
                </a:solidFill>
                <a:latin typeface="Calibri"/>
              </a:rPr>
              <a:t>受講率が低い場合は...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ABBCC"/>
                </a:solidFill>
                <a:latin typeface="Calibri"/>
              </a:rPr>
              <a:t>告知・リマインドの設計に課題がある可能性。視聴開始のハードルを下げる工夫（短い動画・モバイル対応・通知設計）が効果的。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640080"/>
          </a:xfrm>
          <a:prstGeom prst="rect">
            <a:avLst/>
          </a:prstGeom>
          <a:solidFill>
            <a:srgbClr val="050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FF"/>
                </a:solidFill>
                <a:latin typeface="Calibri"/>
              </a:rPr>
              <a:t>② METRIC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視聴ログで見るべき指標② 完了率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36576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10698480" cy="411480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64008" cy="4114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B00"/>
                </a:solidFill>
                <a:latin typeface="Calibri"/>
              </a:rPr>
              <a:t>完了率とは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最後まで視聴した割合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429000"/>
            <a:ext cx="9784080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E5FF"/>
                </a:solidFill>
                <a:latin typeface="Calibri"/>
              </a:rPr>
              <a:t>完了率が低い場合は...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ABBCC"/>
                </a:solidFill>
                <a:latin typeface="Calibri"/>
              </a:rPr>
              <a:t>動画の長さ・構成・内容に課題がある可能性。チャプター分割・冒頭での結論提示・適切な動画尺（推奨10分以内）を検討。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640080"/>
          </a:xfrm>
          <a:prstGeom prst="rect">
            <a:avLst/>
          </a:prstGeom>
          <a:solidFill>
            <a:srgbClr val="050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FF"/>
                </a:solidFill>
                <a:latin typeface="Calibri"/>
              </a:rPr>
              <a:t>② METRIC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視聴ログで見るべき指標③ 離脱ポイント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36576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10698480" cy="411480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64008" cy="4114800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2D9A"/>
                </a:solidFill>
                <a:latin typeface="Calibri"/>
              </a:rPr>
              <a:t>離脱ポイントとは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どの時点で視聴をやめているかを可視化したもの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429000"/>
            <a:ext cx="9784080" cy="36576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E5FF"/>
                </a:solidFill>
                <a:latin typeface="Calibri"/>
              </a:rPr>
              <a:t>離脱ポイントの活用法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ABBCC"/>
                </a:solidFill>
                <a:latin typeface="Calibri"/>
              </a:rPr>
              <a:t>離脱が集中するポイントに内容改善のヒントがある。該当箇所の内容を短縮・再構成・補足資料追加などで改善できる。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640080"/>
          </a:xfrm>
          <a:prstGeom prst="rect">
            <a:avLst/>
          </a:prstGeom>
          <a:solidFill>
            <a:srgbClr val="050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00"/>
                </a:solidFill>
                <a:latin typeface="Calibri"/>
              </a:rPr>
              <a:t>③ FOLLOW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未視聴者へのフォロー設計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3657600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10698480" cy="411480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64008" cy="4114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B00"/>
                </a:solidFill>
                <a:latin typeface="Calibri"/>
              </a:rPr>
              <a:t>未視聴者への対応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651760"/>
            <a:ext cx="9784080" cy="868680"/>
          </a:xfrm>
          <a:prstGeom prst="rect">
            <a:avLst/>
          </a:prstGeom>
          <a:solidFill>
            <a:srgbClr val="0A0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72491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B00"/>
                </a:solidFill>
                <a:latin typeface="Calibri"/>
              </a:rPr>
              <a:t>STEP 1  自動リマインドメールを送信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7432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  <a:latin typeface="Calibri"/>
              </a:rPr>
              <a:t>視聴開始を促すメールを期間ごとに自動配信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657600"/>
            <a:ext cx="9784080" cy="868680"/>
          </a:xfrm>
          <a:prstGeom prst="rect">
            <a:avLst/>
          </a:prstGeom>
          <a:solidFill>
            <a:srgbClr val="0A0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73075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B00"/>
                </a:solidFill>
                <a:latin typeface="Calibri"/>
              </a:rPr>
              <a:t>STEP 2  期限を設定する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7490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  <a:latin typeface="Calibri"/>
              </a:rPr>
              <a:t>「○月○日までに視聴してください」と明示。外的動機づけを作る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663440"/>
            <a:ext cx="9784080" cy="868680"/>
          </a:xfrm>
          <a:prstGeom prst="rect">
            <a:avLst/>
          </a:prstGeom>
          <a:solidFill>
            <a:srgbClr val="0A0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73659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B00"/>
                </a:solidFill>
                <a:latin typeface="Calibri"/>
              </a:rPr>
              <a:t>STEP 3  上長へのアラート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7548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  <a:latin typeface="Calibri"/>
              </a:rPr>
              <a:t>一定期間未視聴が続く場合、管理者に通知して個別フォローを促す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640080"/>
          </a:xfrm>
          <a:prstGeom prst="rect">
            <a:avLst/>
          </a:prstGeom>
          <a:solidFill>
            <a:srgbClr val="050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2D9A"/>
                </a:solidFill>
                <a:latin typeface="Calibri"/>
              </a:rPr>
              <a:t>③ FOLLOW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途中離脱者へのフォロー設計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3657600" cy="36576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10698480" cy="411480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64008" cy="4114800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2D9A"/>
                </a:solidFill>
                <a:latin typeface="Calibri"/>
              </a:rPr>
              <a:t>途中離脱者への対応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651760"/>
            <a:ext cx="9784080" cy="868680"/>
          </a:xfrm>
          <a:prstGeom prst="rect">
            <a:avLst/>
          </a:prstGeom>
          <a:solidFill>
            <a:srgbClr val="0A0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72491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2D9A"/>
                </a:solidFill>
                <a:latin typeface="Calibri"/>
              </a:rPr>
              <a:t>STEP 1  離脱箇所の特定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7432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  <a:latin typeface="Calibri"/>
              </a:rPr>
              <a:t>視聴ログで離脱が集中しているポイントを特定する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657600"/>
            <a:ext cx="9784080" cy="868680"/>
          </a:xfrm>
          <a:prstGeom prst="rect">
            <a:avLst/>
          </a:prstGeom>
          <a:solidFill>
            <a:srgbClr val="0A0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73075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2D9A"/>
                </a:solidFill>
                <a:latin typeface="Calibri"/>
              </a:rPr>
              <a:t>STEP 2  再視聴案内メールを送信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7490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  <a:latin typeface="Calibri"/>
              </a:rPr>
              <a:t>離脱ポイント手前から再確認できるよう案内。ブックマーク機能の活用も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663440"/>
            <a:ext cx="9784080" cy="868680"/>
          </a:xfrm>
          <a:prstGeom prst="rect">
            <a:avLst/>
          </a:prstGeom>
          <a:solidFill>
            <a:srgbClr val="0A0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73659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2D9A"/>
                </a:solidFill>
                <a:latin typeface="Calibri"/>
              </a:rPr>
              <a:t>STEP 3  個別ヒアリング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7548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  <a:latin typeface="Calibri"/>
              </a:rPr>
              <a:t>「なぜ見るのをやめたか」を確認することで、コンテンツ改善のインサイトを得る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640080"/>
          </a:xfrm>
          <a:prstGeom prst="rect">
            <a:avLst/>
          </a:prstGeom>
          <a:solidFill>
            <a:srgbClr val="050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FF"/>
                </a:solidFill>
                <a:latin typeface="Calibri"/>
              </a:rPr>
              <a:t>④ OneStream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OneStreamで実現できる動画研修PDCA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36576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103120" cy="320040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64008" cy="3200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E5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視聴ログ取得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1089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BBCC"/>
                </a:solidFill>
                <a:latin typeface="Calibri"/>
              </a:rP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1920240"/>
            <a:ext cx="2103120" cy="320040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88920" y="1920240"/>
            <a:ext cx="64008" cy="32004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20116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B00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5146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1089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BBCC"/>
                </a:solidFill>
                <a:latin typeface="Calibri"/>
              </a:rPr>
              <a:t>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1920240"/>
            <a:ext cx="2103120" cy="320040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0640" y="1920240"/>
            <a:ext cx="64008" cy="3200400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20116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2D9A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5146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未視聴・離脱者
へのフォロー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1089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BBCC"/>
                </a:solidFill>
                <a:latin typeface="Calibri"/>
              </a:rPr>
              <a:t>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60" y="1920240"/>
            <a:ext cx="2103120" cy="320040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52360" y="1920240"/>
            <a:ext cx="64008" cy="3200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20116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E5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25146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コンテンツ改善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31089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BBCC"/>
                </a:solidFill>
                <a:latin typeface="Calibri"/>
              </a:rPr>
              <a:t>&gt;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84080" y="1920240"/>
            <a:ext cx="2103120" cy="320040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84080" y="1920240"/>
            <a:ext cx="64008" cy="32004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0" y="20116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B00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25146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再配信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303520"/>
            <a:ext cx="10698480" cy="123444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5303520"/>
            <a:ext cx="64008" cy="123444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3949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ABBCC"/>
                </a:solidFill>
                <a:latin typeface="Calibri"/>
              </a:rPr>
              <a:t>OneStreamなら視聴ログの取得・分析・フォロー送信・コンテンツ更新まで、
このサイクルを自動化・効率化できます。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640080"/>
          </a:xfrm>
          <a:prstGeom prst="rect">
            <a:avLst/>
          </a:prstGeom>
          <a:solidFill>
            <a:srgbClr val="050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FF"/>
                </a:solidFill>
                <a:latin typeface="Calibri"/>
              </a:rPr>
              <a:t>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本日のまとめ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36576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698480" cy="128016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64008" cy="12801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E5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92024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動画研修は「配信して終わり」にしない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51460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  <a:latin typeface="Calibri"/>
              </a:rPr>
              <a:t>配信後のフォロー設計が研修効果を決める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91840"/>
            <a:ext cx="10698480" cy="128016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91840"/>
            <a:ext cx="64008" cy="12801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747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6B00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38328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受講率・完了率・離脱ポイントの3指標を必ず見る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97764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  <a:latin typeface="Calibri"/>
              </a:rPr>
              <a:t>この3つを見るだけで改善のヒントが得られる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754880"/>
            <a:ext cx="10698480" cy="128016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754880"/>
            <a:ext cx="64008" cy="1280160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937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2D9A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84632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未視聴者・離脱者には自動フォローを仕組み化する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44068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  <a:latin typeface="Calibri"/>
              </a:rPr>
              <a:t>人手をかけずに受講完了率を高められる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1371600"/>
            <a:ext cx="8503920" cy="320040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1371600"/>
            <a:ext cx="73152" cy="3200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64592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00E5FF"/>
                </a:solidFill>
                <a:latin typeface="Calibri"/>
              </a:rPr>
              <a:t>Q &amp;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20040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ご質問はQ&amp;A機能からお気軽にどうぞ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9144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7432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6576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1097280"/>
            <a:ext cx="10698480" cy="457200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1097280"/>
            <a:ext cx="64008" cy="4572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1234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E5FF"/>
                </a:solidFill>
                <a:latin typeface="Calibri"/>
              </a:rPr>
              <a:t>個別相談・無料トライアルのご案内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1920240"/>
            <a:ext cx="996696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2103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OneStreamの個別相談・無料トライアルのご案内をしております。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2743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ABBCC"/>
                </a:solidFill>
                <a:latin typeface="Calibri"/>
              </a:rPr>
              <a:t>研修動画の視聴率改善・フォロー自動化・コンテンツPDCAについて、
貴社の課題に合わせて個別にご提案いたします。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7280" y="4023360"/>
            <a:ext cx="4572000" cy="685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406908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無料トライアルを申し込む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BBCC"/>
                </a:solidFill>
                <a:latin typeface="Calibri"/>
              </a:rPr>
              <a:t>本日はご参加いただき、誠にありがとうございました。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